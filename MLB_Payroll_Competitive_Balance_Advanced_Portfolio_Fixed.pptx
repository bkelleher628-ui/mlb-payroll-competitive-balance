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Minimum payroll</c:v>
                </c:pt>
              </c:strCache>
            </c:strRef>
          </c:tx>
          <c:spPr>
            <a:ln w="25400" cap="flat">
              <a:solidFill>
                <a:srgbClr val="E35D5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35D5B"/>
              </a:solidFill>
              <a:ln w="9525" cap="flat">
                <a:solidFill>
                  <a:srgbClr val="E35D5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2011</c:v>
                </c:pt>
                <c:pt idx="1">
                  <c:v>2014</c:v>
                </c:pt>
                <c:pt idx="2">
                  <c:v>2017</c:v>
                </c:pt>
                <c:pt idx="3">
                  <c:v>2020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51</c:v>
                </c:pt>
                <c:pt idx="2">
                  <c:v>65</c:v>
                </c:pt>
                <c:pt idx="3">
                  <c:v>23</c:v>
                </c:pt>
                <c:pt idx="4">
                  <c:v>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77-4B3E-B7A1-F02DAB0699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 payroll</c:v>
                </c:pt>
              </c:strCache>
            </c:strRef>
          </c:tx>
          <c:spPr>
            <a:ln w="25400" cap="flat">
              <a:solidFill>
                <a:srgbClr val="61D7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1D7FF"/>
              </a:solidFill>
              <a:ln w="9525" cap="flat">
                <a:solidFill>
                  <a:srgbClr val="61D7F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2011</c:v>
                </c:pt>
                <c:pt idx="1">
                  <c:v>2014</c:v>
                </c:pt>
                <c:pt idx="2">
                  <c:v>2017</c:v>
                </c:pt>
                <c:pt idx="3">
                  <c:v>2020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</c:v>
                </c:pt>
                <c:pt idx="1">
                  <c:v>111</c:v>
                </c:pt>
                <c:pt idx="2">
                  <c:v>141</c:v>
                </c:pt>
                <c:pt idx="3">
                  <c:v>60</c:v>
                </c:pt>
                <c:pt idx="4">
                  <c:v>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77-4B3E-B7A1-F02DAB0699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Maximum payroll</c:v>
                </c:pt>
              </c:strCache>
            </c:strRef>
          </c:tx>
          <c:spPr>
            <a:ln w="25400" cap="flat">
              <a:solidFill>
                <a:srgbClr val="F5B6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B642"/>
              </a:solidFill>
              <a:ln w="9525" cap="flat">
                <a:solidFill>
                  <a:srgbClr val="F5B64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2011</c:v>
                </c:pt>
                <c:pt idx="1">
                  <c:v>2014</c:v>
                </c:pt>
                <c:pt idx="2">
                  <c:v>2017</c:v>
                </c:pt>
                <c:pt idx="3">
                  <c:v>2020</c:v>
                </c:pt>
                <c:pt idx="4">
                  <c:v>2024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211</c:v>
                </c:pt>
                <c:pt idx="1">
                  <c:v>242</c:v>
                </c:pt>
                <c:pt idx="2">
                  <c:v>259</c:v>
                </c:pt>
                <c:pt idx="3">
                  <c:v>125</c:v>
                </c:pt>
                <c:pt idx="4">
                  <c:v>315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77-4B3E-B7A1-F02DAB0699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4D2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4D2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(%)</c:v>
                </c:pt>
              </c:strCache>
            </c:strRef>
          </c:tx>
          <c:spPr>
            <a:solidFill>
              <a:srgbClr val="16C7C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6F2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Payroll only</c:v>
                </c:pt>
                <c:pt idx="1">
                  <c:v>Log payroll</c:v>
                </c:pt>
                <c:pt idx="2">
                  <c:v>Relative payroll</c:v>
                </c:pt>
                <c:pt idx="3">
                  <c:v>Relative payroll+age</c:v>
                </c:pt>
                <c:pt idx="4">
                  <c:v>Roster structure model</c:v>
                </c:pt>
                <c:pt idx="5">
                  <c:v>Full model+year effects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11.4</c:v>
                </c:pt>
                <c:pt idx="1">
                  <c:v>10.3</c:v>
                </c:pt>
                <c:pt idx="2">
                  <c:v>14</c:v>
                </c:pt>
                <c:pt idx="3">
                  <c:v>31.7</c:v>
                </c:pt>
                <c:pt idx="4">
                  <c:v>39.9</c:v>
                </c:pt>
                <c:pt idx="5">
                  <c:v>43.8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24-42B5-85E5-0AB99C3E5A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C4D2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4D2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SD reduction (%)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Cap 1.25× median</c:v>
                </c:pt>
                <c:pt idx="1">
                  <c:v>Floor 0.75× median</c:v>
                </c:pt>
                <c:pt idx="2">
                  <c:v>Band 0.75×-1.25x</c:v>
                </c:pt>
                <c:pt idx="3">
                  <c:v>Band 0.85×-1.15x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17.5</c:v>
                </c:pt>
                <c:pt idx="1">
                  <c:v>25.2</c:v>
                </c:pt>
                <c:pt idx="2">
                  <c:v>46.1</c:v>
                </c:pt>
                <c:pt idx="3">
                  <c:v>64.3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EB-4F5D-A8C2-5E81752981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Gini reduction (%)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Cap 1.25× median</c:v>
                </c:pt>
                <c:pt idx="1">
                  <c:v>Floor 0.75× median</c:v>
                </c:pt>
                <c:pt idx="2">
                  <c:v>Band 0.75×-1.25x</c:v>
                </c:pt>
                <c:pt idx="3">
                  <c:v>Band 0.85×-1.15x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19.3</c:v>
                </c:pt>
                <c:pt idx="1">
                  <c:v>26.5</c:v>
                </c:pt>
                <c:pt idx="2">
                  <c:v>45.8</c:v>
                </c:pt>
                <c:pt idx="3">
                  <c:v>64.099999999999994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EB-4F5D-A8C2-5E81752981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35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high_resolution_wide_angle_slightly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1D">
              <a:alpha val="92000"/>
            </a:srgbClr>
          </a:solidFill>
          <a:ln w="12700">
            <a:solidFill>
              <a:srgbClr val="0410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3794760"/>
            <a:ext cx="12191695" cy="3063240"/>
          </a:xfrm>
          <a:prstGeom prst="rect">
            <a:avLst/>
          </a:prstGeom>
          <a:solidFill>
            <a:srgbClr val="04101D"/>
          </a:solidFill>
          <a:ln w="12700">
            <a:solidFill>
              <a:srgbClr val="04101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9436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C7C7"/>
                </a:solidFill>
              </a:rPr>
              <a:t>MLB PAYROLL &amp; COMPETITIVE BALANCE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4360" y="4498848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much does money buy wins?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94360" y="51937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C4D2E0"/>
                </a:solidFill>
              </a:rPr>
              <a:t>Advanced R analysis of team payroll, wins, diminishing returns, and salary-cap / salary-floor simulations using 2011–2024 MLB team-season data.</a:t>
            </a:r>
            <a:endParaRPr lang="en-US" sz="1420" dirty="0"/>
          </a:p>
        </p:txBody>
      </p:sp>
      <p:sp>
        <p:nvSpPr>
          <p:cNvPr id="8" name="Text 5"/>
          <p:cNvSpPr/>
          <p:nvPr/>
        </p:nvSpPr>
        <p:spPr>
          <a:xfrm>
            <a:off x="8549640" y="51663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B6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420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549640" y="56052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team-seasons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738360" y="5166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1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2011–2024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738360" y="5605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analysis window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614476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2E8"/>
                </a:solidFill>
              </a:rPr>
              <a:t>Brandon Kelleher  •  Baseball Analytics Portfolio</a:t>
            </a:r>
            <a:endParaRPr lang="en-US" sz="1150" dirty="0"/>
          </a:p>
        </p:txBody>
      </p:sp>
      <p:sp>
        <p:nvSpPr>
          <p:cNvPr id="13" name="Rounded Rectangle 12"/>
          <p:cNvSpPr/>
          <p:nvPr/>
        </p:nvSpPr>
        <p:spPr>
          <a:xfrm>
            <a:off x="566928" y="658368"/>
            <a:ext cx="5257800" cy="1325880"/>
          </a:xfrm>
          <a:prstGeom prst="roundRect">
            <a:avLst/>
          </a:prstGeom>
          <a:solidFill>
            <a:srgbClr val="071526"/>
          </a:solidFill>
          <a:ln w="9525">
            <a:solidFill>
              <a:srgbClr val="16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850392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6C7C7"/>
                </a:solidFill>
              </a:rPr>
              <a:t>PORTFOLIO 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143000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2E8"/>
                </a:solidFill>
              </a:rPr>
              <a:t>Regression modeling • Efficiency residuals • Cap/floor simulations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62763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4D2E0"/>
                </a:solidFill>
              </a:rPr>
              <a:t>Built as a reproducible R project for baseball analytics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answer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2E8"/>
                </a:solidFill>
              </a:rPr>
              <a:t>Payroll helps, but it does not fully determine winning.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9738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4D2E0"/>
                </a:solidFill>
              </a:rPr>
              <a:t>The advanced version separates three ideas that often get blurred together: spending level, roster structure, and policy compression.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B6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14.0%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60120" y="3410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variation explained by relative payroll alone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86200" y="29718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1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43.8%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886200" y="34107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variation explained by the full roster/year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6948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9C6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46.1%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269480" y="34107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predicted SD reduction under a 0.75x–1.25x band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334256"/>
            <a:ext cx="9921240" cy="0"/>
          </a:xfrm>
          <a:prstGeom prst="line">
            <a:avLst/>
          </a:prstGeom>
          <a:noFill/>
          <a:ln w="13970">
            <a:solidFill>
              <a:srgbClr val="294D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617720"/>
            <a:ext cx="100584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C4D2E0"/>
                </a:solidFill>
              </a:rPr>
              <a:t>Higher payroll is associated with more wins, but the relationship is moderate.</a:t>
            </a:r>
            <a:endParaRPr lang="en-US" sz="1500" dirty="0"/>
          </a:p>
          <a:p>
            <a:r>
              <a:rPr lang="en-US" sz="1500" dirty="0">
                <a:solidFill>
                  <a:srgbClr val="C4D2E0"/>
                </a:solidFill>
              </a:rPr>
              <a:t>A 10% increase in relative payroll is associated with about 1.1 additional 162-game wins in the payroll-only relative model.</a:t>
            </a:r>
            <a:endParaRPr lang="en-US" sz="1500" dirty="0"/>
          </a:p>
          <a:p>
            <a:r>
              <a:rPr lang="en-US" sz="1500" dirty="0">
                <a:solidFill>
                  <a:srgbClr val="C4D2E0"/>
                </a:solidFill>
              </a:rPr>
              <a:t>Compressing only the top of payrolls helps; combining a cap with a floor compresses predicted outcomes much more.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design: from baseball question to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4D2E0"/>
                </a:solidFill>
              </a:rPr>
              <a:t>The project is structured to answer the question rather than just produce a chart.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566928" cy="566928"/>
          </a:xfrm>
          <a:prstGeom prst="arc">
            <a:avLst/>
          </a:prstGeom>
          <a:solidFill>
            <a:srgbClr val="F5B642">
              <a:alpha val="90000"/>
            </a:srgbClr>
          </a:solidFill>
          <a:ln w="12700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256032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526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2E8"/>
                </a:solidFill>
              </a:rPr>
              <a:t>Normalize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2240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C4D2E0"/>
                </a:solidFill>
              </a:rPr>
              <a:t>Scale all seasons to a 162-game win basis, including the shortened 2020 season.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1783080" y="2706624"/>
            <a:ext cx="1691640" cy="0"/>
          </a:xfrm>
          <a:prstGeom prst="line">
            <a:avLst/>
          </a:prstGeom>
          <a:noFill/>
          <a:ln w="16510">
            <a:solidFill>
              <a:srgbClr val="426781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2423160"/>
            <a:ext cx="566928" cy="566928"/>
          </a:xfrm>
          <a:prstGeom prst="arc">
            <a:avLst/>
          </a:prstGeom>
          <a:solidFill>
            <a:srgbClr val="16C7C7">
              <a:alpha val="90000"/>
            </a:srgbClr>
          </a:solidFill>
          <a:ln w="12700">
            <a:solidFill>
              <a:srgbClr val="16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2192" y="256032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526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2E8"/>
                </a:solidFill>
              </a:rPr>
              <a:t>Model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3529584"/>
            <a:ext cx="2240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C4D2E0"/>
                </a:solidFill>
              </a:rPr>
              <a:t>Compare dollar payroll, log payroll, relative payroll, and roster-structure models.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617720" y="2706624"/>
            <a:ext cx="1691640" cy="0"/>
          </a:xfrm>
          <a:prstGeom prst="line">
            <a:avLst/>
          </a:prstGeom>
          <a:noFill/>
          <a:ln w="16510">
            <a:solidFill>
              <a:srgbClr val="426781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2423160"/>
            <a:ext cx="566928" cy="566928"/>
          </a:xfrm>
          <a:prstGeom prst="arc">
            <a:avLst/>
          </a:prstGeom>
          <a:solidFill>
            <a:srgbClr val="16C7C7">
              <a:alpha val="90000"/>
            </a:srgbClr>
          </a:solidFill>
          <a:ln w="12700">
            <a:solidFill>
              <a:srgbClr val="16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56832" y="256032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526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2E8"/>
                </a:solidFill>
              </a:rPr>
              <a:t>Simulate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3529584"/>
            <a:ext cx="2240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C4D2E0"/>
                </a:solidFill>
              </a:rPr>
              <a:t>Apply cap, floor, and cap-floor band rules relative to each year’s median payroll.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452360" y="2706624"/>
            <a:ext cx="1691640" cy="0"/>
          </a:xfrm>
          <a:prstGeom prst="line">
            <a:avLst/>
          </a:prstGeom>
          <a:noFill/>
          <a:ln w="16510">
            <a:solidFill>
              <a:srgbClr val="426781">
                <a:alpha val="8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26880" y="2423160"/>
            <a:ext cx="566928" cy="566928"/>
          </a:xfrm>
          <a:prstGeom prst="arc">
            <a:avLst/>
          </a:prstGeom>
          <a:solidFill>
            <a:srgbClr val="16C7C7">
              <a:alpha val="90000"/>
            </a:srgbClr>
          </a:solidFill>
          <a:ln w="12700">
            <a:solidFill>
              <a:srgbClr val="16C7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91472" y="256032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526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2E8"/>
                </a:solidFill>
              </a:rPr>
              <a:t>Interpret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26880" y="3529584"/>
            <a:ext cx="2240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C4D2E0"/>
                </a:solidFill>
              </a:rPr>
              <a:t>Use standard deviation, Gini coefficient, and residuals to explain balance and efficiency.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960120" y="52578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1D7FF"/>
                </a:solidFill>
              </a:rPr>
              <a:t>Key idea: model payroll as a continuous driver, then ask how the predicted win distribution changes when the spending distribution is compressed.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5806440" cy="4389119"/>
        </p:xfrm>
        <a:graphic>
          <a:graphicData uri="http://schemas.openxmlformats.org/drawingml/2006/table">
            <a:tbl>
              <a:tblPr/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Design choice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Observations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420 team-seasons: 30 MLB teams × 14 seasons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Outcome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Wins scaled to a 162-game season using win percentage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Payroll scale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payroll allocations converted from dollars to numeric values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Inflation control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Relative payroll = team payroll ÷ season median payroll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Roster structure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Active, injured, retained, and buried payroll shares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 unit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Caps and floors defined relative to each season’s median payroll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463040"/>
            <a:ext cx="4434840" cy="4343400"/>
          </a:xfrm>
          <a:prstGeom prst="rect">
            <a:avLst/>
          </a:prstGeom>
          <a:solidFill>
            <a:srgbClr val="102941">
              <a:alpha val="85000"/>
            </a:srgbClr>
          </a:solidFill>
          <a:ln w="10160">
            <a:solidFill>
              <a:srgbClr val="2B587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223760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642"/>
                </a:solidFill>
              </a:rPr>
              <a:t>Why adjust 2020?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223760" y="22402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4D2E0"/>
                </a:solidFill>
              </a:rPr>
              <a:t>Raw wins are not comparable across a shortened 60-game season and normal 162-game seasons. Scaling by win percentage keeps the outcome on the same baseball scale across all years.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D7FF"/>
                </a:solidFill>
              </a:rPr>
              <a:t>Data source note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23760" y="4041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C4D2E0"/>
                </a:solidFill>
              </a:rPr>
              <a:t>The analysis uses a Kaggle dataset of MLB team payrolls from 2011–2024; payroll information in that dataset is sourced from Spotrac. The raw CSV should be downloaded from the original source when reproducing.</a:t>
            </a:r>
            <a:endParaRPr lang="en-US" sz="1240" dirty="0"/>
          </a:p>
        </p:txBody>
      </p:sp>
      <p:sp>
        <p:nvSpPr>
          <p:cNvPr id="12" name="Shape 9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951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Payroll gaps are large and persistent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191458953"/>
              </p:ext>
            </p:extLst>
          </p:nvPr>
        </p:nvGraphicFramePr>
        <p:xfrm>
          <a:off x="731520" y="1417320"/>
          <a:ext cx="69951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22960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E8"/>
                </a:solidFill>
              </a:rPr>
              <a:t>2024 snapshot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7532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B6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$315M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275320" y="26791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highest payroll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7532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1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$159M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275320" y="3639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median payroll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7532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35D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$62M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275320" y="4599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lowest payroll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92440" y="52303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C4D2E0"/>
                </a:solidFill>
              </a:rPr>
              <a:t>The simulation rules are relative to each season’s median, so a 2011 cap and a 2024 cap adjust naturally to league payroll growth.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Payroll matters — but it is not a complete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1417320"/>
          <a:ext cx="6675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9095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642"/>
                </a:solidFill>
              </a:rPr>
              <a:t>What changes in the advanced version?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01000" y="2103120"/>
            <a:ext cx="3291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C4D2E0"/>
                </a:solidFill>
              </a:rPr>
              <a:t>Uses relative payroll to compare teams within each season’s financial environment.</a:t>
            </a:r>
            <a:endParaRPr lang="en-US" sz="1350" dirty="0"/>
          </a:p>
          <a:p>
            <a:r>
              <a:rPr lang="en-US" sz="1350" dirty="0">
                <a:solidFill>
                  <a:srgbClr val="C4D2E0"/>
                </a:solidFill>
              </a:rPr>
              <a:t>Adds roster structure features rather than treating every dollar as identical.</a:t>
            </a:r>
            <a:endParaRPr lang="en-US" sz="1350" dirty="0"/>
          </a:p>
          <a:p>
            <a:r>
              <a:rPr lang="en-US" sz="1350" dirty="0">
                <a:solidFill>
                  <a:srgbClr val="C4D2E0"/>
                </a:solidFill>
              </a:rPr>
              <a:t>Adds season controls in the full model to avoid confusing time effects with team effects.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0956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D7FF"/>
                </a:solidFill>
              </a:rPr>
              <a:t>Important interpretation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09560" y="4709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4D2E0"/>
                </a:solidFill>
              </a:rPr>
              <a:t>Even the fuller model leaves substantial unexplained variation. That is the baseball part of the result: money creates advantages, but execution, injuries, player development, and randomness still matter.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Diminishing returns: more money helps, but not evenly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27632"/>
          <a:ext cx="6355080" cy="3154680"/>
        </p:xfrm>
        <a:graphic>
          <a:graphicData uri="http://schemas.openxmlformats.org/drawingml/2006/table">
            <a:tbl>
              <a:tblPr/>
              <a:tblGrid>
                <a:gridCol w="158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Quartile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Avg. relative payroll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Avg. wins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Playoff rate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Q1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0.58×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76.4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24.8%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Q2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0.87×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77.8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24.8%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1.12×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82.3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Q4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1.58×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87.6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54.3%</a:t>
                      </a:r>
                      <a:endParaRPr lang="en-US" sz="12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51480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642"/>
                </a:solidFill>
              </a:rPr>
              <a:t>Reading the table</a:t>
            </a:r>
            <a:endParaRPr lang="en-US" sz="1600" dirty="0"/>
          </a:p>
        </p:txBody>
      </p:sp>
      <p:sp>
        <p:nvSpPr>
          <p:cNvPr id="6" name="Text 5"/>
          <p:cNvSpPr/>
          <p:nvPr/>
        </p:nvSpPr>
        <p:spPr>
          <a:xfrm>
            <a:off x="868680" y="5532120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C4D2E0"/>
                </a:solidFill>
              </a:rPr>
              <a:t>Higher-spending teams win more on average, but the increase is gradual rather than automatic. That is the practical meaning of diminishing returns in this project.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7818120" y="16002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6F2E8"/>
                </a:solidFill>
              </a:rPr>
              <a:t>Quartile interpretation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D2E0"/>
                </a:solidFill>
              </a:rPr>
              <a:t>Lowest payroll quartile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09560" y="25420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B6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76.4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909560" y="29809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avg. 162-game wins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09560" y="3794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D2E0"/>
                </a:solidFill>
              </a:rPr>
              <a:t>Highest payroll quartile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09560" y="4050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1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87.6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7909560" y="44897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avg. 162-game wins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09560" y="52852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C4D2E0"/>
                </a:solidFill>
              </a:rPr>
              <a:t>The gap is meaningful, but the top quartile is not automatic dominance — the spread within each group is why modeling residuals matters.</a:t>
            </a:r>
            <a:endParaRPr lang="en-US" sz="1270" dirty="0"/>
          </a:p>
        </p:txBody>
      </p:sp>
      <p:sp>
        <p:nvSpPr>
          <p:cNvPr id="17" name="Shape 14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advanced model separates spending from roster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C4D2E0"/>
                </a:solidFill>
              </a:rPr>
              <a:t>Instead of asking only “how much did a team spend?”, the upgraded model asks where payroll was allocated and what roster profile came with it.</a:t>
            </a:r>
            <a:endParaRPr lang="en-US" sz="152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12848"/>
          <a:ext cx="6172200" cy="3428999"/>
        </p:xfrm>
        <a:graphic>
          <a:graphicData uri="http://schemas.openxmlformats.org/drawingml/2006/table">
            <a:tbl>
              <a:tblPr/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 family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matters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Relative payroll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Controls for the financial environment within each season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Average age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Proxy for veteran/young roster composition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share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Payroll actually on the active roster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Injured share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Payroll tied up in injured players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Retained share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Payroll paid to players no longer producing for the club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 effects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Controls for league-wide season differences and payroll inflation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543800" y="2212848"/>
            <a:ext cx="3429000" cy="3429000"/>
          </a:xfrm>
          <a:prstGeom prst="rect">
            <a:avLst/>
          </a:prstGeom>
          <a:solidFill>
            <a:srgbClr val="112A3F">
              <a:alpha val="88000"/>
            </a:srgbClr>
          </a:solidFill>
          <a:ln w="10160">
            <a:solidFill>
              <a:srgbClr val="2B587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7909560" y="2606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B6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43.8%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909560" y="3044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R² in full model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095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1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9.5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909560" y="4096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RMSE in wins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48828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C4D2E0"/>
                </a:solidFill>
              </a:rPr>
              <a:t>This is not a causal claim. It is a stronger descriptive model that better explains the historical data.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Efficiency lens: who beat the payroll model?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2E0"/>
                </a:solidFill>
              </a:rPr>
              <a:t>Residuals show the difference between actual 162-game wins and wins predicted from payroll with season context.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5166360" cy="3246120"/>
        </p:xfrm>
        <a:graphic>
          <a:graphicData uri="http://schemas.openxmlformats.org/drawingml/2006/table">
            <a:tbl>
              <a:tblPr/>
              <a:tblGrid>
                <a:gridCol w="172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overperformers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Residual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Postseason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2020 TB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+35.4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Div. Winner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2023 BAL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+29.3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Div. Winner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2023 TB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+26.2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Wildcard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2020 LAD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Div. Winner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2021 TB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Div. Winner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20240"/>
          <a:ext cx="5166360" cy="3246120"/>
        </p:xfrm>
        <a:graphic>
          <a:graphicData uri="http://schemas.openxmlformats.org/drawingml/2006/table">
            <a:tbl>
              <a:tblPr/>
              <a:tblGrid>
                <a:gridCol w="172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underperformers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Residual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Postseason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 CHW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2018 BAL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2019 DET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-32.2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2021 ARI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2022 WSH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54406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B642"/>
                </a:solidFill>
              </a:rPr>
              <a:t>Why this matters for baseball analytics</a:t>
            </a:r>
            <a:endParaRPr lang="en-US" sz="1550" dirty="0"/>
          </a:p>
        </p:txBody>
      </p:sp>
      <p:sp>
        <p:nvSpPr>
          <p:cNvPr id="7" name="Text 6"/>
          <p:cNvSpPr/>
          <p:nvPr/>
        </p:nvSpPr>
        <p:spPr>
          <a:xfrm>
            <a:off x="914400" y="579729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C4D2E0"/>
                </a:solidFill>
              </a:rPr>
              <a:t>The most interesting teams are often not the richest teams — they are the teams that turn limited payroll into more wins than the model expects.</a:t>
            </a:r>
            <a:endParaRPr lang="en-US" sz="1320" dirty="0"/>
          </a:p>
        </p:txBody>
      </p:sp>
      <p:sp>
        <p:nvSpPr>
          <p:cNvPr id="11" name="Shape 7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Counterfactual policy simulation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53312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4D2E0"/>
                </a:solidFill>
              </a:rPr>
              <a:t>The simulation does not claim to predict real roster moves. It asks a narrower modeling question: if payrolls were mechanically compressed, how would predicted win dispersion change?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642"/>
                </a:solidFill>
              </a:rPr>
              <a:t>Cap rule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697480" y="24871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6F2E8"/>
                </a:solidFill>
              </a:rPr>
              <a:t>Payrollᶜᵃᵖ = min(Payroll, cap × medianᵧ)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5156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1D7FF"/>
                </a:solidFill>
              </a:rPr>
              <a:t>Floor rule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97480" y="340156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6F2E8"/>
                </a:solidFill>
              </a:rPr>
              <a:t>Payrollᶠˡᵒᵒʳ = max(Payroll, floor × medianᵧ)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51560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59C67A"/>
                </a:solidFill>
              </a:rPr>
              <a:t>Cap-floor band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246120" y="43159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F6F2E8"/>
                </a:solidFill>
              </a:rPr>
              <a:t>Payrollᵇᵃⁿᵈ = min(max(Payroll, floor), cap)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098280" y="2103120"/>
            <a:ext cx="2148840" cy="2926080"/>
          </a:xfrm>
          <a:prstGeom prst="rect">
            <a:avLst/>
          </a:prstGeom>
          <a:solidFill>
            <a:srgbClr val="122A3F">
              <a:alpha val="90000"/>
            </a:srgbClr>
          </a:solidFill>
          <a:ln w="10160">
            <a:solidFill>
              <a:srgbClr val="2B587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0" y="24231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Balance metrics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63456" y="29443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4D2E0"/>
                </a:solidFill>
              </a:rPr>
              <a:t>Standard deviation of predicted wins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0" y="3703320"/>
            <a:ext cx="1554480" cy="0"/>
          </a:xfrm>
          <a:prstGeom prst="line">
            <a:avLst/>
          </a:prstGeom>
          <a:noFill/>
          <a:ln w="12700">
            <a:solidFill>
              <a:srgbClr val="3159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63456" y="40050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4D2E0"/>
                </a:solidFill>
              </a:rPr>
              <a:t>Gini coefficient of predicted wins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cap-floor band changes the model more than a cap alone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65363760"/>
              </p:ext>
            </p:extLst>
          </p:nvPr>
        </p:nvGraphicFramePr>
        <p:xfrm>
          <a:off x="777240" y="1417320"/>
          <a:ext cx="68580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092440" y="1691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1D7FF"/>
                </a:solidFill>
              </a:rPr>
              <a:t>Best practical comparison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0" y="2240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B6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46.1%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138160" y="26791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SD reduction for 0.75×–1.25× band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9C6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224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138160" y="3776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4D2E0"/>
                </a:solidFill>
              </a:rPr>
              <a:t>affected team-seasons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9244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2E8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92440" y="49651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C4D2E0"/>
                </a:solidFill>
              </a:rPr>
              <a:t>A cap can limit the top, but a floor also raises the bottom. That is why the band compresses predicted wins more than the cap alone.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Pirates context: smaller-payroll application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35024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C4D2E0"/>
                </a:solidFill>
              </a:rPr>
              <a:t>This slide is not a team evaluation. It shows how the model can frame a practical front-office question: when payroll rank is near the bottom, where can wins above expectation come from?</a:t>
            </a:r>
            <a:endParaRPr lang="en-US" sz="14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6583680" cy="3017520"/>
        </p:xfrm>
        <a:graphic>
          <a:graphicData uri="http://schemas.openxmlformats.org/drawingml/2006/table">
            <a:tbl>
              <a:tblPr/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Payroll rank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162-game wins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 rank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Residual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28/30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61.0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27/30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28/30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62.0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27/30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28/30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76.0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21/30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29/30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76.0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23/30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6F2E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909560" y="1965960"/>
            <a:ext cx="3246120" cy="3017520"/>
          </a:xfrm>
          <a:prstGeom prst="rect">
            <a:avLst/>
          </a:prstGeom>
          <a:solidFill>
            <a:srgbClr val="102941">
              <a:alpha val="88000"/>
            </a:srgbClr>
          </a:solidFill>
          <a:ln w="10160">
            <a:solidFill>
              <a:srgbClr val="2B587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0" y="23317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B642"/>
                </a:solidFill>
              </a:rPr>
              <a:t>Portfolio value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2816352"/>
            <a:ext cx="2697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C4D2E0"/>
                </a:solidFill>
              </a:rPr>
              <a:t>The project moves beyond “big payrolls win” and creates a reusable workflow for identifying overperformance, underperformance, and policy sensitivity.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8183880" y="416052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1D7FF"/>
                </a:solidFill>
              </a:rPr>
              <a:t>That is the part most relevant to baseball analytics work.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54406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dirty="0">
                <a:solidFill>
                  <a:srgbClr val="C4D2E0"/>
                </a:solidFill>
              </a:rPr>
              <a:t>Recent Pirates residuals moved from negative to modestly positive in 2023 and 2024, meaning actual wins were above the payroll-model baseline in those seasons.</a:t>
            </a:r>
            <a:endParaRPr lang="en-US" sz="1340" dirty="0"/>
          </a:p>
        </p:txBody>
      </p:sp>
      <p:sp>
        <p:nvSpPr>
          <p:cNvPr id="13" name="Shape 10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1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model does not prove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C4D2E0"/>
                </a:solidFill>
              </a:rPr>
              <a:t>The project is meant to be a quantitative framework, not a complete explanation of baseball performance.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B642"/>
                </a:solidFill>
              </a:rPr>
              <a:t>Correlation ≠ causation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429000" y="213055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4D2E0"/>
                </a:solidFill>
              </a:rPr>
              <a:t>The model estimates historical associations, not causal effects of adding payroll.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1D7FF"/>
                </a:solidFill>
              </a:rPr>
              <a:t>Payroll is not talent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429000" y="304495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4D2E0"/>
                </a:solidFill>
              </a:rPr>
              <a:t>A better model would include WAR, run differential, player projections, contracts, and injury history.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B642"/>
                </a:solidFill>
              </a:rPr>
              <a:t>Policy response is simplified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429000" y="395935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4D2E0"/>
                </a:solidFill>
              </a:rPr>
              <a:t>Real teams, agents, and players would change behavior under a new cap or floor.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1D7FF"/>
                </a:solidFill>
              </a:rPr>
              <a:t>Data licensing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429000" y="487375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4D2E0"/>
                </a:solidFill>
              </a:rPr>
              <a:t>The raw CSV should be referenced back to its source instead of redistributed without checking the license.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C67A"/>
                </a:solidFill>
              </a:rPr>
              <a:t>Best next version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7881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C4D2E0"/>
                </a:solidFill>
              </a:rPr>
              <a:t>Merge payroll with player WAR, injury days, roster age curves, and team development metrics to separate “spending more” from “spending efficiently.”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6"/>
          </a:solidFill>
          <a:ln w="12700">
            <a:solidFill>
              <a:srgbClr val="0715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MLB PAYROLL &amp; COMPETITIVE BALANCE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Reproducible portfolio package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3970">
            <a:solidFill>
              <a:srgbClr val="16C7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2E8"/>
                </a:solidFill>
              </a:rPr>
              <a:t>What the reviewer should see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548640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C4D2E0"/>
                </a:solidFill>
              </a:rPr>
              <a:t>A clear baseball question that leads to measurable outputs.</a:t>
            </a:r>
            <a:endParaRPr lang="en-US" sz="1400" dirty="0"/>
          </a:p>
          <a:p>
            <a:r>
              <a:rPr lang="en-US" sz="1400" dirty="0">
                <a:solidFill>
                  <a:srgbClr val="C4D2E0"/>
                </a:solidFill>
              </a:rPr>
              <a:t>A reproducible R script, not just a presentation.</a:t>
            </a:r>
            <a:endParaRPr lang="en-US" sz="1400" dirty="0"/>
          </a:p>
          <a:p>
            <a:r>
              <a:rPr lang="en-US" sz="1400" dirty="0">
                <a:solidFill>
                  <a:srgbClr val="C4D2E0"/>
                </a:solidFill>
              </a:rPr>
              <a:t>Multiple models with honest interpretation of model limits.</a:t>
            </a:r>
            <a:endParaRPr lang="en-US" sz="1400" dirty="0"/>
          </a:p>
          <a:p>
            <a:r>
              <a:rPr lang="en-US" sz="1400" dirty="0">
                <a:solidFill>
                  <a:srgbClr val="C4D2E0"/>
                </a:solidFill>
              </a:rPr>
              <a:t>Policy simulations that answer “what changes if the payroll distribution changes?”</a:t>
            </a:r>
            <a:endParaRPr lang="en-US" sz="1400" dirty="0"/>
          </a:p>
          <a:p>
            <a:r>
              <a:rPr lang="en-US" sz="1400" dirty="0">
                <a:solidFill>
                  <a:srgbClr val="C4D2E0"/>
                </a:solidFill>
              </a:rPr>
              <a:t>A path to a more advanced baseball operations model.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95160" y="1554480"/>
            <a:ext cx="4206240" cy="3886200"/>
          </a:xfrm>
          <a:prstGeom prst="rect">
            <a:avLst/>
          </a:prstGeom>
          <a:solidFill>
            <a:srgbClr val="102941">
              <a:alpha val="87000"/>
            </a:srgbClr>
          </a:solidFill>
          <a:ln w="10160">
            <a:solidFill>
              <a:srgbClr val="2B587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6092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B642"/>
                </a:solidFill>
              </a:rPr>
              <a:t>Final deliverables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mlb_payroll_competitive_balance.R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360920" y="29077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4D2E0"/>
                </a:solidFill>
              </a:rPr>
              <a:t>Full analysis script: cleaning, feature engineering, regression, residuals, policy simulations, output tables, and charts.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52360" y="3703320"/>
            <a:ext cx="3200400" cy="0"/>
          </a:xfrm>
          <a:prstGeom prst="line">
            <a:avLst/>
          </a:prstGeom>
          <a:noFill/>
          <a:ln w="12700">
            <a:solidFill>
              <a:srgbClr val="31597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60920" y="3977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MLB_Payroll_Competitive_Balance_Advanced_Portfolio.pptx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06640" y="44622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4D2E0"/>
                </a:solidFill>
              </a:rPr>
              <a:t>Professional slide deck designed to explain the project to a technical or baseball audience.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1D7FF"/>
                </a:solidFill>
              </a:rPr>
              <a:t>Bottom line: money matters, efficiency matters more than the simple payroll story, and payroll compression changes predicted balance most when both the top and bottom are addressed.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0160">
            <a:solidFill>
              <a:srgbClr val="35506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6547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8A3B8"/>
                </a:solidFill>
              </a:rPr>
              <a:t>Brandon Kelleher  •  Advanced R portfolio project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384280" y="65196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8A3B8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1709</Words>
  <Application>Microsoft Office PowerPoint</Application>
  <PresentationFormat>Widescreen</PresentationFormat>
  <Paragraphs>293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MLB Payroll &amp; Competitive Balance</dc:title>
  <dc:subject>MLB payroll, wins, and competitive balance analysis</dc:subject>
  <dc:creator>Brandon Kelleher</dc:creator>
  <cp:lastModifiedBy>Brandon Kelleher</cp:lastModifiedBy>
  <cp:revision>2</cp:revision>
  <dcterms:created xsi:type="dcterms:W3CDTF">2026-09-22T22:47:14Z</dcterms:created>
  <dcterms:modified xsi:type="dcterms:W3CDTF">2026-09-22T23:01:20Z</dcterms:modified>
</cp:coreProperties>
</file>